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65" r:id="rId6"/>
    <p:sldId id="259" r:id="rId7"/>
    <p:sldId id="260" r:id="rId8"/>
    <p:sldId id="261" r:id="rId9"/>
    <p:sldId id="262" r:id="rId10"/>
    <p:sldId id="263" r:id="rId11"/>
  </p:sldIdLst>
  <p:sldSz cx="14630400" cy="8229600"/>
  <p:notesSz cx="8229600" cy="14630400"/>
  <p:embeddedFontLst>
    <p:embeddedFont>
      <p:font typeface="Epilogue" panose="020B0604020202020204" charset="0"/>
      <p:regular r:id="rId13"/>
    </p:embeddedFont>
    <p:embeddedFont>
      <p:font typeface="Fraunces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9481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75433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Zomato Restaurant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Group 2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31A36B-A0D6-F73B-8FF0-A20213612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7159" y="7648219"/>
            <a:ext cx="2026024" cy="5813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09DF2E-15B2-AFBD-F9E7-6E5E646D89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74" t="20711" r="17066" b="11397"/>
          <a:stretch>
            <a:fillRect/>
          </a:stretch>
        </p:blipFill>
        <p:spPr>
          <a:xfrm>
            <a:off x="1039905" y="1149124"/>
            <a:ext cx="12550589" cy="7080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62956-2733-E886-40B4-DA76F307D278}"/>
              </a:ext>
            </a:extLst>
          </p:cNvPr>
          <p:cNvSpPr txBox="1"/>
          <p:nvPr/>
        </p:nvSpPr>
        <p:spPr>
          <a:xfrm>
            <a:off x="5006906" y="94292"/>
            <a:ext cx="461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Power Bi Dashboard 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83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7278"/>
            <a:ext cx="503420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Metrics at a Glance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09776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9,551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312955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Total Restaurants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974306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Across the dataset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209776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141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312955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Cities Covered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3619976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Diverse urban presence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209776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2.89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312955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Avg. Customer Rating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3974306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Overall satisfaction score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893493" y="526708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1,826</a:t>
            </a:r>
            <a:endParaRPr lang="en-US" sz="5850" dirty="0"/>
          </a:p>
        </p:txBody>
      </p:sp>
      <p:sp>
        <p:nvSpPr>
          <p:cNvPr id="14" name="Text 11"/>
          <p:cNvSpPr/>
          <p:nvPr/>
        </p:nvSpPr>
        <p:spPr>
          <a:xfrm>
            <a:off x="8893493" y="629888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Cuisines Offered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893493" y="6789301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Wide culinary variety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622A1D-D8C1-1301-70EF-5DE75A3BA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7159" y="7648219"/>
            <a:ext cx="2026024" cy="5813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4907" y="452914"/>
            <a:ext cx="4732258" cy="411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 Interaction: Filters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114907" y="1274921"/>
            <a:ext cx="2055376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City Filter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14907" y="1696164"/>
            <a:ext cx="499967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Analyze restaurant data by specific cities.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907" y="2144078"/>
            <a:ext cx="4999673" cy="4999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23202" y="1274921"/>
            <a:ext cx="2055376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Cuisine Filter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23202" y="1696164"/>
            <a:ext cx="499967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Explore performance across various cuisines.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202" y="2144078"/>
            <a:ext cx="4999673" cy="49996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14907" y="7513558"/>
            <a:ext cx="10400467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Empowering users to drill down into specific segments for deeper analysis.</a:t>
            </a:r>
            <a:endParaRPr lang="en-US" sz="12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C15C6-16DF-2A2A-FB49-1200F38EB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9513" y="7471780"/>
            <a:ext cx="2640887" cy="757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27500-DD10-AF9C-9FF8-B83B1F77FF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48"/>
          <a:stretch>
            <a:fillRect/>
          </a:stretch>
        </p:blipFill>
        <p:spPr>
          <a:xfrm>
            <a:off x="579021" y="914400"/>
            <a:ext cx="13011150" cy="67338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EAB864-EA37-76BE-864C-A49DF5E64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7159" y="7648219"/>
            <a:ext cx="2026024" cy="5813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077C54-C9C3-1A3D-3BB3-5E296B5F686A}"/>
              </a:ext>
            </a:extLst>
          </p:cNvPr>
          <p:cNvSpPr txBox="1"/>
          <p:nvPr/>
        </p:nvSpPr>
        <p:spPr>
          <a:xfrm>
            <a:off x="5006907" y="252680"/>
            <a:ext cx="38037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Excel Dashboard </a:t>
            </a:r>
            <a:endParaRPr lang="en-IN" sz="4000" b="1" dirty="0">
              <a:solidFill>
                <a:schemeClr val="bg1"/>
              </a:solidFill>
            </a:endParaRP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585358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0953" y="471249"/>
            <a:ext cx="4475440" cy="42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Online Delivery Availability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953" y="1240155"/>
            <a:ext cx="10808375" cy="58513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73403" y="7121962"/>
            <a:ext cx="170855" cy="170855"/>
          </a:xfrm>
          <a:prstGeom prst="roundRect">
            <a:avLst>
              <a:gd name="adj" fmla="val 10704"/>
            </a:avLst>
          </a:prstGeom>
          <a:solidFill>
            <a:srgbClr val="222949"/>
          </a:solidFill>
          <a:ln/>
        </p:spPr>
      </p:sp>
      <p:sp>
        <p:nvSpPr>
          <p:cNvPr id="5" name="Text 2"/>
          <p:cNvSpPr/>
          <p:nvPr/>
        </p:nvSpPr>
        <p:spPr>
          <a:xfrm>
            <a:off x="6505218" y="7121962"/>
            <a:ext cx="733663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Available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91281" y="7121962"/>
            <a:ext cx="170855" cy="170855"/>
          </a:xfrm>
          <a:prstGeom prst="roundRect">
            <a:avLst>
              <a:gd name="adj" fmla="val 10704"/>
            </a:avLst>
          </a:prstGeom>
          <a:solidFill>
            <a:srgbClr val="6C7CBB"/>
          </a:solidFill>
          <a:ln/>
        </p:spPr>
      </p:sp>
      <p:sp>
        <p:nvSpPr>
          <p:cNvPr id="7" name="Text 4"/>
          <p:cNvSpPr/>
          <p:nvPr/>
        </p:nvSpPr>
        <p:spPr>
          <a:xfrm>
            <a:off x="7623096" y="7121962"/>
            <a:ext cx="1075968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Not Available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10953" y="7484983"/>
            <a:ext cx="10808375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significant majority of restaurants offer online delivery services.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D88B65-19CE-030C-4AE6-422AFC35D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3542" y="7484984"/>
            <a:ext cx="2266858" cy="650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0953" y="471249"/>
            <a:ext cx="5497116" cy="42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City-wise Restaurant Distribution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953" y="1240155"/>
            <a:ext cx="10808375" cy="6052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10953" y="7484983"/>
            <a:ext cx="10808375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New Delhi leads with approximately 5.5K restaurants, followed by Gurgaon and Noida.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F4823A-7C9F-6125-AFFC-FEEEEAF12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9328" y="7569149"/>
            <a:ext cx="1911072" cy="548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6592"/>
            <a:ext cx="565689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Table Booking Availability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2588538" y="380154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12.1%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428" y="2383869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5916" y="60696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Offer Booking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560106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Restaurants providing table reservation services.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251633" y="380154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87.9%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5523" y="2383869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29130" y="60696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 Booking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6560106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Restaurants without table booking options.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1F90C9-9358-1525-B6F2-7178609CF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4078" y="7696917"/>
            <a:ext cx="1856322" cy="5326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67170"/>
            <a:ext cx="609314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Restaurant Ratings Analysis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414468"/>
            <a:ext cx="3664744" cy="2403396"/>
          </a:xfrm>
          <a:prstGeom prst="roundRect">
            <a:avLst>
              <a:gd name="adj" fmla="val 6087"/>
            </a:avLst>
          </a:prstGeom>
          <a:solidFill>
            <a:srgbClr val="080E26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2383988"/>
            <a:ext cx="3664744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6" name="Shape 3"/>
          <p:cNvSpPr/>
          <p:nvPr/>
        </p:nvSpPr>
        <p:spPr>
          <a:xfrm>
            <a:off x="2285940" y="207430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0014" y="2278380"/>
            <a:ext cx="272177" cy="2721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084" y="2981444"/>
            <a:ext cx="2861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Popular Chains Excel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51084" y="3471863"/>
            <a:ext cx="31501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Domino's, Café Coffee Day, Subway, McDonald's receive higher ratings.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685348" y="2414468"/>
            <a:ext cx="3664863" cy="2403396"/>
          </a:xfrm>
          <a:prstGeom prst="roundRect">
            <a:avLst>
              <a:gd name="adj" fmla="val 6087"/>
            </a:avLst>
          </a:prstGeom>
          <a:solidFill>
            <a:srgbClr val="080E26"/>
          </a:solidFill>
          <a:ln/>
        </p:spPr>
      </p:sp>
      <p:sp>
        <p:nvSpPr>
          <p:cNvPr id="11" name="Shape 7"/>
          <p:cNvSpPr/>
          <p:nvPr/>
        </p:nvSpPr>
        <p:spPr>
          <a:xfrm>
            <a:off x="4685348" y="2383988"/>
            <a:ext cx="3664863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2" name="Shape 8"/>
          <p:cNvSpPr/>
          <p:nvPr/>
        </p:nvSpPr>
        <p:spPr>
          <a:xfrm>
            <a:off x="6177498" y="207430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81571" y="2278380"/>
            <a:ext cx="272177" cy="27217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42642" y="2981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Brand Recognition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942642" y="3471863"/>
            <a:ext cx="31502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Strong brands correlate with increased customer satisfaction.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793790" y="5384840"/>
            <a:ext cx="7556421" cy="1677591"/>
          </a:xfrm>
          <a:prstGeom prst="roundRect">
            <a:avLst>
              <a:gd name="adj" fmla="val 8721"/>
            </a:avLst>
          </a:prstGeom>
          <a:solidFill>
            <a:srgbClr val="080E26"/>
          </a:solidFill>
          <a:ln/>
        </p:spPr>
      </p:sp>
      <p:sp>
        <p:nvSpPr>
          <p:cNvPr id="17" name="Shape 12"/>
          <p:cNvSpPr/>
          <p:nvPr/>
        </p:nvSpPr>
        <p:spPr>
          <a:xfrm>
            <a:off x="793790" y="5354360"/>
            <a:ext cx="7556421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8" name="Shape 13"/>
          <p:cNvSpPr/>
          <p:nvPr/>
        </p:nvSpPr>
        <p:spPr>
          <a:xfrm>
            <a:off x="4231779" y="504467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35852" y="5248751"/>
            <a:ext cx="272177" cy="27217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084" y="59518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Rating Trends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1051084" y="6442234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Insights into customer preferences and loyalty.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1951"/>
            <a:ext cx="663368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Driving Data-Driven Decisions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694378" y="2790587"/>
            <a:ext cx="33382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Restaurant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81005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Understand operational strengths and weaknesses.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4362" y="3634264"/>
            <a:ext cx="318968" cy="318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2790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Customer Behavior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7628" y="3281005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Insights into preferences and engagement.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86713" y="3634264"/>
            <a:ext cx="318968" cy="3189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97628" y="5243155"/>
            <a:ext cx="29103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Service Improvement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597628" y="5733574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Identify areas for enhancing customer experience.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86713" y="5296614"/>
            <a:ext cx="318968" cy="3189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197418" y="5243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Strategic Planning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733574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Support informed business decisions for growth.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342555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24362" y="5296614"/>
            <a:ext cx="318968" cy="3189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813C4D-ABE0-D1CA-F756-DE3FCC7B20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01080" y="7397585"/>
            <a:ext cx="2529320" cy="72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213</Words>
  <Application>Microsoft Office PowerPoint</Application>
  <PresentationFormat>Custom</PresentationFormat>
  <Paragraphs>60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Epilogue</vt:lpstr>
      <vt:lpstr>Fraunces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Vikrant Sharma</cp:lastModifiedBy>
  <cp:revision>4</cp:revision>
  <dcterms:created xsi:type="dcterms:W3CDTF">2026-01-09T11:51:43Z</dcterms:created>
  <dcterms:modified xsi:type="dcterms:W3CDTF">2026-01-09T12:10:36Z</dcterms:modified>
</cp:coreProperties>
</file>